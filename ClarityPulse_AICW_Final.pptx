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77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hita0081-gif/Dr.-Ishita-Chatterjee_Project/issues/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gif"/><Relationship Id="rId5" Type="http://schemas.openxmlformats.org/officeDocument/2006/relationships/hyperlink" Target="https://drive.google.com/file/d/1BRvSbqsMlsCtQ_OS4Pe6eM0664AEUC0k/view?usp=sharing" TargetMode="External"/><Relationship Id="rId4" Type="http://schemas.openxmlformats.org/officeDocument/2006/relationships/hyperlink" Target="https://github.com/ishita0081-gif/Dr.-Ishita-Chatterjee_Project/issues/2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hita0081-gif/Dr.-Ishita-Chatterjee_Project/issues/2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pic>
        <p:nvPicPr>
          <p:cNvPr id="4" name="Image 0" descr="/home/claude/sri_im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54864"/>
            <a:ext cx="822960" cy="274320"/>
          </a:xfrm>
          <a:prstGeom prst="rect">
            <a:avLst/>
          </a:prstGeom>
        </p:spPr>
      </p:pic>
      <p:pic>
        <p:nvPicPr>
          <p:cNvPr id="5" name="Image 1" descr="/home/claude/sri_img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5720"/>
            <a:ext cx="1234440" cy="338328"/>
          </a:xfrm>
          <a:prstGeom prst="rect">
            <a:avLst/>
          </a:prstGeom>
        </p:spPr>
      </p:pic>
      <p:pic>
        <p:nvPicPr>
          <p:cNvPr id="6" name="Image 2" descr="/home/claude/sri_img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" y="1042416"/>
            <a:ext cx="3858768" cy="184708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66344" y="3099816"/>
            <a:ext cx="3813048" cy="256032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66344" y="30998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28016" y="345643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CLARITYPULSE: AI-POWERED FACULTY FEEDBACK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 ACCELERATED ACADEMIC DECISION-MAKING</a:t>
            </a:r>
            <a:endParaRPr lang="en-US" sz="1200" dirty="0"/>
          </a:p>
        </p:txBody>
      </p:sp>
      <p:pic>
        <p:nvPicPr>
          <p:cNvPr id="10" name="Image 3" descr="/home/claude/sri_img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" y="4315968"/>
            <a:ext cx="374904" cy="7498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8368" y="4315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58368" y="45171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Umashree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2496312" y="4315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 Name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2496312" y="4517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Ishita Chatterjee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535424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Email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622292" y="446434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IN" sz="800" dirty="0">
                <a:solidFill>
                  <a:schemeClr val="bg1"/>
                </a:solidFill>
              </a:rPr>
              <a:t>ean.law@marwadieducation.edu.in</a:t>
            </a: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17" name="Image 4" descr="/home/claude/sri_img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663440"/>
            <a:ext cx="5943600" cy="34747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806440" y="2313432"/>
            <a:ext cx="2834640" cy="1097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20" name="Image 5" descr="/home/claude/sri_img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502920"/>
            <a:ext cx="3108960" cy="39319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" y="1133856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Abstract of the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" y="1508760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" y="1883664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Proposed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2258568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" y="2633472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Demo of the Project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" y="3008376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Embedded Video of Project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" y="3383280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" y="3758184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Scope</a:t>
            </a:r>
            <a:endParaRPr lang="en-US" sz="1400" dirty="0"/>
          </a:p>
        </p:txBody>
      </p:sp>
      <p:pic>
        <p:nvPicPr>
          <p:cNvPr id="15" name="Image 0" descr="/home/claude/sri_outline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033272"/>
            <a:ext cx="2871216" cy="32918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" y="1133856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1430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analytics pipeline converting raw student feedback into faculty-specific, action-ready insights within 48 hours — vs 12–15 working days manually.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920240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9293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tracking of teaching performance, identification of at-risk themes, and visualisation of key metrics across all 6 law courses and 8 faculty members.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" y="2706624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7157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Tools: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Excel + Power Query, Power BI, and Microsoft Copilot — no coding required. Every insight is traceable to its anonymised source row.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3493008"/>
            <a:ext cx="54864" cy="56692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350215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Impact: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faster turnaround · ~70% less manual effort · ~60% more actionable themes · 100% audit-ready for NAAC / NBA evidence.</a:t>
            </a:r>
            <a:endParaRPr lang="en-US" sz="1100" dirty="0"/>
          </a:p>
        </p:txBody>
      </p:sp>
      <p:pic>
        <p:nvPicPr>
          <p:cNvPr id="15" name="Image 0" descr="/home/claude/sri_img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343400" cy="3429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" y="11155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Issues Hindering Effective Academic Feedback Intelligence :-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" y="149961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Operational Efficiency – QA coordinators lose 40–50% of working hours to manual reading and categorising of open-ended comments each semester.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" y="211226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Faculty Productivity – Corrective insights arrive 12–15 days after collection, missing the cohort that raised the concern.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" y="27249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Difficulty in Evidence Verification – NAAC / NBA audits require proof that feedback led to documented actions. Spreadsheets cannot reconstruct this.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" y="333756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Tools Gap – Excel cannot extract sentiment; NLP tools require coding skills most non-STEM faculty don't have.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" y="39502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Information Overload – 70–80% of qualitative feedback is collected but never systematically analysed.</a:t>
            </a:r>
            <a:endParaRPr lang="en-US" sz="1100" dirty="0"/>
          </a:p>
        </p:txBody>
      </p:sp>
      <p:pic>
        <p:nvPicPr>
          <p:cNvPr id="13" name="Image 0" descr="/home/claude/sri_problem_im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1014984"/>
            <a:ext cx="4187952" cy="27889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Designed to Enable Timely Faculty Feedback Intelligence :-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" y="1463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Faculty Feedback Intelligence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" y="196596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AI-Assisted Sentiment &amp; Theme Extraction (Copilot)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" y="24688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'Support Priority' System via Prompt Library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" y="2971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Cloud-ready storage via OneDrive / SharePoint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" y="347472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Actionable KPI Summaries per faculty and course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MS Power BI Desktop, Azure, Copilot Studio</a:t>
            </a:r>
            <a:endParaRPr lang="en-US" sz="1000" dirty="0"/>
          </a:p>
        </p:txBody>
      </p:sp>
      <p:pic>
        <p:nvPicPr>
          <p:cNvPr id="14" name="Image 0" descr="/home/claude/sri_img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343400" cy="3429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384048"/>
            <a:ext cx="9144000" cy="5029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02336"/>
            <a:ext cx="6858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040880" y="402336"/>
            <a:ext cx="1920240" cy="438912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4023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ClarityPulse</a:t>
            </a:r>
            <a:endParaRPr lang="en-US" sz="1000" dirty="0"/>
          </a:p>
        </p:txBody>
      </p:sp>
      <p:pic>
        <p:nvPicPr>
          <p:cNvPr id="9" name="Image 0" descr="/home/claude/sri_img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87552"/>
            <a:ext cx="8961120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718304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OBJECTIVE: Excel + Copilot + Power BI — no new procurement, no coding. 100% audit-traceable output.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" y="1106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2788920" cy="50292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2788920" cy="2606040"/>
          </a:xfrm>
          <a:prstGeom prst="rect">
            <a:avLst/>
          </a:prstGeom>
          <a:solidFill>
            <a:srgbClr val="F5F7FF"/>
          </a:solidFill>
          <a:ln w="9525">
            <a:solidFill>
              <a:srgbClr val="1B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128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files, datasets,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library, workbook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presentation.</a:t>
            </a:r>
            <a:endParaRPr lang="en-US" sz="105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347472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https://github.com/ishita0081-gif/Dr.-Ishita-...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828800" cy="1280160"/>
          </a:xfrm>
          <a:prstGeom prst="rect">
            <a:avLst/>
          </a:prstGeom>
          <a:solidFill>
            <a:srgbClr val="D1D5D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GitHub QR 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1645920"/>
            <a:ext cx="2788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presentation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54680" y="2148840"/>
            <a:ext cx="2788920" cy="2606040"/>
          </a:xfrm>
          <a:prstGeom prst="rect">
            <a:avLst/>
          </a:prstGeom>
          <a:solidFill>
            <a:srgbClr val="F5F7FF"/>
          </a:solidFill>
          <a:ln w="9525">
            <a:solidFill>
              <a:srgbClr val="1B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2128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→ Copilot insights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Power BI dashboard.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27832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video link here]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3291840"/>
            <a:ext cx="219456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6035040" y="1645920"/>
            <a:ext cx="2788920" cy="50292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148840"/>
            <a:ext cx="2788920" cy="2606040"/>
          </a:xfrm>
          <a:prstGeom prst="rect">
            <a:avLst/>
          </a:prstGeom>
          <a:solidFill>
            <a:srgbClr val="F5F7FF"/>
          </a:solidFill>
          <a:ln w="9525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2128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workbook, AI-generated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per-faculty action report.</a:t>
            </a:r>
            <a:endParaRPr lang="en-US" sz="1050" dirty="0"/>
          </a:p>
        </p:txBody>
      </p:sp>
      <p:pic>
        <p:nvPicPr>
          <p:cNvPr id="26" name="Image 0" descr="/home/claude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880360"/>
            <a:ext cx="2697480" cy="178308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28016" y="47548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 Demo</a:t>
            </a:r>
            <a:endParaRPr lang="en-US" sz="180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02920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188720"/>
            <a:ext cx="3291840" cy="2377440"/>
          </a:xfrm>
          <a:prstGeom prst="rect">
            <a:avLst/>
          </a:prstGeom>
          <a:solidFill>
            <a:srgbClr val="1A1A2E"/>
          </a:solidFill>
          <a:ln w="25400">
            <a:solidFill>
              <a:srgbClr val="2A8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463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557784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raw CSV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→ Copilot → Power BI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3474720"/>
            <a:ext cx="3291840" cy="32918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96128" y="349300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77840" y="3913632"/>
            <a:ext cx="3291840" cy="329184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3" name="Text 10">
            <a:hlinkClick r:id="rId4"/>
          </p:cNvPr>
          <p:cNvSpPr/>
          <p:nvPr/>
        </p:nvSpPr>
        <p:spPr>
          <a:xfrm>
            <a:off x="5596128" y="393192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https://github.com/ishita0081-gif/Dr.-Ishita-Chatterjee_Project/issues/2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5DD4684-AE20-8155-C2F2-B276A059B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6128" y="2424137"/>
            <a:ext cx="2766654" cy="892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Google San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Google Sans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https://drive.google.com/file/d/1BRvSbqsMlsCtQ_OS4Pe6eM0664AEUC0k/view?usp=sharing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7EBDA2-B80F-5434-1B8E-F8C421724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898" y="2733887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ClarityPulse Dashboard — Key Features</a:t>
            </a:r>
            <a:endParaRPr lang="en-US" sz="2200" dirty="0"/>
          </a:p>
        </p:txBody>
      </p:sp>
      <p:pic>
        <p:nvPicPr>
          <p:cNvPr id="7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106424"/>
            <a:ext cx="530352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115568"/>
            <a:ext cx="3291840" cy="749808"/>
          </a:xfrm>
          <a:prstGeom prst="rect">
            <a:avLst/>
          </a:prstGeom>
          <a:solidFill>
            <a:srgbClr val="EEF2FA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115568"/>
            <a:ext cx="64008" cy="74980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1887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 Cards: 85% faster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· 100% traceable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0" y="2002536"/>
            <a:ext cx="3291840" cy="749808"/>
          </a:xfrm>
          <a:prstGeom prst="rect">
            <a:avLst/>
          </a:prstGeom>
          <a:solidFill>
            <a:srgbClr val="E8F4FD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2002536"/>
            <a:ext cx="64008" cy="74980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0756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Sentiment Index: +16.1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positive · 68 negative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0" y="2889504"/>
            <a:ext cx="3291840" cy="749808"/>
          </a:xfrm>
          <a:prstGeom prst="rect">
            <a:avLst/>
          </a:prstGeom>
          <a:solidFill>
            <a:srgbClr val="EEF2FA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2889504"/>
            <a:ext cx="64008" cy="74980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96265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Course Summary: All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courses filterable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0" y="3776472"/>
            <a:ext cx="3291840" cy="749808"/>
          </a:xfrm>
          <a:prstGeom prst="rect">
            <a:avLst/>
          </a:prstGeom>
          <a:solidFill>
            <a:srgbClr val="E8F4FD"/>
          </a:solidFill>
          <a:ln w="10160">
            <a:solidFill>
              <a:srgbClr val="1B3A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3776472"/>
            <a:ext cx="64008" cy="749808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84962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Semester Trend: Autumn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→ Spring 2026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 &amp; Workbook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8016" y="1133856"/>
            <a:ext cx="8229600" cy="54864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" y="11704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synthetic responses  ·  6 law courses  ·  8 faculty  ·  2 semesters (Autumn 2025 &amp; Spring 2026)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" y="1755648"/>
          <a:ext cx="8229600" cy="27980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feedback row 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Autumn 2025 / Spring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De-identified code (F-A01 … F-A08)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rating_teaching / content /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Likert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Open-ended free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/ Neutral / Negative — AI tagged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/ Pacing / Assessment / Accessibility…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avg_rating (derived)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three rating fields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– Excel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" y="1115568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"ClarityPulse" project successfully fulfils all objectives defined in the problem statement by combining data analytics, AI-driven insights, and Microsoft tooling to analyse and visualise faculty feedback. The interactive dashboard, along with Copilot-generated action reports, enables quick insights and smart decision-making, making the system efficient and user-friendly for non-STEM faculty.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" y="3154680"/>
            <a:ext cx="1115568" cy="877824"/>
          </a:xfrm>
          <a:prstGeom prst="rect">
            <a:avLst/>
          </a:prstGeom>
          <a:solidFill>
            <a:srgbClr val="EEF2F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" y="3154680"/>
            <a:ext cx="1115568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" y="326440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" y="36301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0" y="3154680"/>
            <a:ext cx="1115568" cy="877824"/>
          </a:xfrm>
          <a:prstGeom prst="rect">
            <a:avLst/>
          </a:prstGeom>
          <a:solidFill>
            <a:srgbClr val="EEF2FA"/>
          </a:solidFill>
          <a:ln w="19050">
            <a:solidFill>
              <a:srgbClr val="2A83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154680"/>
            <a:ext cx="1115568" cy="9144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26440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6301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15184" y="3154680"/>
            <a:ext cx="1115568" cy="877824"/>
          </a:xfrm>
          <a:prstGeom prst="rect">
            <a:avLst/>
          </a:prstGeom>
          <a:solidFill>
            <a:srgbClr val="EEF2FA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15184" y="3154680"/>
            <a:ext cx="111556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326440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15184" y="36301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Insights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58768" y="3154680"/>
            <a:ext cx="1115568" cy="877824"/>
          </a:xfrm>
          <a:prstGeom prst="rect">
            <a:avLst/>
          </a:prstGeom>
          <a:solidFill>
            <a:srgbClr val="EEF2FA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8768" y="3154680"/>
            <a:ext cx="1115568" cy="9144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326440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58768" y="36301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4114800"/>
            <a:ext cx="30175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pic>
        <p:nvPicPr>
          <p:cNvPr id="26" name="Image 0" descr="/home/claude/sri_conclusion_im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777240"/>
            <a:ext cx="2779776" cy="324612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28016" y="612648"/>
            <a:ext cx="8229600" cy="438912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30936"/>
            <a:ext cx="80467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8016" y="1133856"/>
            <a:ext cx="6400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Integration (3–6 months)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LMS / Google Form API integration to remove manual CSV export. Multilingual support for Hindi, Gujarati and regional languages.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" y="2304288"/>
            <a:ext cx="64008" cy="960120"/>
          </a:xfrm>
          <a:prstGeom prst="rect">
            <a:avLst/>
          </a:prstGeom>
          <a:solidFill>
            <a:srgbClr val="2A83D0"/>
          </a:solidFill>
          <a:ln w="12700">
            <a:solidFill>
              <a:srgbClr val="2A8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22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Intervention Alerts (6–12 months)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6151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mid-semester early-warning model for at-risk courses. Auto-generated NAAC / NBA evidence packs for accreditation cycles.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" y="347472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493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Accessibility &amp; Scale (1 year+)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" y="378561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Institution-wide rollout with role-based Power BI workspaces for HoDs, Deans and IQAC. Anonymised cross-department benchmarking.</a:t>
            </a:r>
            <a:endParaRPr lang="en-US" sz="1100" dirty="0"/>
          </a:p>
        </p:txBody>
      </p:sp>
      <p:pic>
        <p:nvPicPr>
          <p:cNvPr id="16" name="Image 0" descr="/home/claude/sri_conclusion_im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4206240" cy="32918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2544" cy="402336"/>
          </a:xfrm>
          <a:prstGeom prst="rect">
            <a:avLst/>
          </a:prstGeom>
          <a:ln w="12700">
            <a:solidFill>
              <a:srgbClr val="042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36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2194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633472" y="1700784"/>
            <a:ext cx="3877056" cy="1179576"/>
          </a:xfrm>
          <a:prstGeom prst="rect">
            <a:avLst/>
          </a:prstGeom>
          <a:solidFill>
            <a:srgbClr val="0D358D"/>
          </a:solidFill>
          <a:ln w="12700">
            <a:solidFill>
              <a:srgbClr val="0D35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33472" y="1700784"/>
            <a:ext cx="38770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Faculty Project Presentation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|  Edunet Foundation  |  Marwadi University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71600" y="3977640"/>
            <a:ext cx="6400800" cy="347472"/>
          </a:xfrm>
          <a:prstGeom prst="rect">
            <a:avLst/>
          </a:prstGeom>
          <a:solidFill>
            <a:srgbClr val="EEF2F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10" name="Text 8">
            <a:hlinkClick r:id="rId3"/>
          </p:cNvPr>
          <p:cNvSpPr/>
          <p:nvPr/>
        </p:nvSpPr>
        <p:spPr>
          <a:xfrm>
            <a:off x="1417320" y="39959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2A83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Dr. Ishita Chatterjee  |  Mentor: Umashree  |  https://github.com/ishita0081-gif/Dr.-Ishita-Chatterjee_Project/issues/2</a:t>
            </a:r>
            <a:endParaRPr lang="en-US" sz="850" dirty="0"/>
          </a:p>
        </p:txBody>
      </p:sp>
      <p:pic>
        <p:nvPicPr>
          <p:cNvPr id="11" name="Image 0" descr="/home/claude/sri_thankyou_i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58768"/>
            <a:ext cx="2286000" cy="128930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942</Words>
  <Application>Microsoft Office PowerPoint</Application>
  <PresentationFormat>On-screen Show (16:9)</PresentationFormat>
  <Paragraphs>163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ClarityPulse – AI-Powered Faculty Feedback Intelligence</dc:title>
  <dc:subject>PptxGenJS Presentation</dc:subject>
  <dc:creator>PptxGenJS</dc:creator>
  <cp:lastModifiedBy>Parul Shukla</cp:lastModifiedBy>
  <cp:revision>3</cp:revision>
  <dcterms:created xsi:type="dcterms:W3CDTF">2026-05-04T10:30:17Z</dcterms:created>
  <dcterms:modified xsi:type="dcterms:W3CDTF">2026-05-05T04:17:01Z</dcterms:modified>
</cp:coreProperties>
</file>